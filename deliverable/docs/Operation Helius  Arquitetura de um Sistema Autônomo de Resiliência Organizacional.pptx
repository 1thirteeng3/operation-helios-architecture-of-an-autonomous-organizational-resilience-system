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037jBbFsbg29m8zP7NDiSkxmS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3028950" y="1289475"/>
            <a:ext cx="5657850" cy="1005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469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3293"/>
              <a:buFont typeface="Calibri"/>
              <a:buNone/>
            </a:pPr>
            <a:r>
              <a:rPr b="1" i="0" lang="en-US" sz="3293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Operation</a:t>
            </a:r>
            <a:br>
              <a:rPr b="1" i="0" lang="en-US" sz="3293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293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Helius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028950" y="2673911"/>
            <a:ext cx="3571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Arquitetura de um Sistema Autônomo de Resiliência Organizacional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028950" y="3488299"/>
            <a:ext cx="3571875" cy="365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Da falha em cascata à arquitetura cibernética de resiliência contínua.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" name="Google Shape;2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322094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"/>
          <p:cNvSpPr/>
          <p:nvPr/>
        </p:nvSpPr>
        <p:spPr>
          <a:xfrm>
            <a:off x="0" y="0"/>
            <a:ext cx="9144000" cy="111621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0" y="1109067"/>
            <a:ext cx="9144000" cy="7144"/>
          </a:xfrm>
          <a:prstGeom prst="rect">
            <a:avLst/>
          </a:prstGeom>
          <a:solidFill>
            <a:srgbClr val="DE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428625" y="357188"/>
            <a:ext cx="828675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O Dia em que a Helius Parou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28625" y="1394817"/>
            <a:ext cx="392906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⚙️ Resumo do Incidente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00063" y="1819870"/>
            <a:ext cx="3857625" cy="385763"/>
          </a:xfrm>
          <a:prstGeom prst="rect">
            <a:avLst/>
          </a:prstGeom>
          <a:solidFill>
            <a:srgbClr val="FFB347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00063" y="1819870"/>
            <a:ext cx="21431" cy="385763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07194" y="1984177"/>
            <a:ext cx="57150" cy="57150"/>
          </a:xfrm>
          <a:prstGeom prst="ellipse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500063" y="1819870"/>
            <a:ext cx="38576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170050" spcFirstLastPara="1" rIns="170050" wrap="square" tIns="127500">
            <a:sp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Falha inicial na camada de rede → perda de ACKs MQTT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00063" y="2348508"/>
            <a:ext cx="3857625" cy="385763"/>
          </a:xfrm>
          <a:prstGeom prst="rect">
            <a:avLst/>
          </a:prstGeom>
          <a:solidFill>
            <a:srgbClr val="FFB347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00063" y="2348508"/>
            <a:ext cx="21431" cy="385763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07194" y="2512814"/>
            <a:ext cx="57150" cy="57150"/>
          </a:xfrm>
          <a:prstGeom prst="ellipse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500063" y="2348508"/>
            <a:ext cx="38576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170050" spcFirstLastPara="1" rIns="170050" wrap="square" tIns="127500">
            <a:sp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Duplicação massiva de mensagens na borda (edge devices)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00063" y="2877145"/>
            <a:ext cx="3857625" cy="385763"/>
          </a:xfrm>
          <a:prstGeom prst="rect">
            <a:avLst/>
          </a:prstGeom>
          <a:solidFill>
            <a:srgbClr val="FFB347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00063" y="2877145"/>
            <a:ext cx="21431" cy="385763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07194" y="3041452"/>
            <a:ext cx="57150" cy="57150"/>
          </a:xfrm>
          <a:prstGeom prst="ellipse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00063" y="2877145"/>
            <a:ext cx="38576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170050" spcFirstLastPara="1" rIns="170050" wrap="square" tIns="127500">
            <a:sp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Sobrecarga do telemetry-gateway e degradação da ingestão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00063" y="3405783"/>
            <a:ext cx="3857625" cy="385763"/>
          </a:xfrm>
          <a:prstGeom prst="rect">
            <a:avLst/>
          </a:prstGeom>
          <a:solidFill>
            <a:srgbClr val="FFB347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00063" y="3405783"/>
            <a:ext cx="21431" cy="385763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07194" y="3570089"/>
            <a:ext cx="57150" cy="57150"/>
          </a:xfrm>
          <a:prstGeom prst="ellipse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500063" y="3405783"/>
            <a:ext cx="38576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170050" spcFirstLastPara="1" rIns="170050" wrap="square" tIns="127500">
            <a:sp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Paralisação progressiva de métricas, dashboards e recomendações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786313" y="1394817"/>
            <a:ext cx="392906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📊 Impactos Observados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786313" y="1819870"/>
            <a:ext cx="3929063" cy="592931"/>
          </a:xfrm>
          <a:prstGeom prst="rect">
            <a:avLst/>
          </a:prstGeom>
          <a:solidFill>
            <a:srgbClr val="5CE1E6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786313" y="1819870"/>
            <a:ext cx="21431" cy="592931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929188" y="1927027"/>
            <a:ext cx="36433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735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Blackout de Observabilidade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929188" y="2134195"/>
            <a:ext cx="36433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~37 minutos sem métricas e dashboards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786313" y="2555677"/>
            <a:ext cx="3929063" cy="592931"/>
          </a:xfrm>
          <a:prstGeom prst="rect">
            <a:avLst/>
          </a:prstGeom>
          <a:solidFill>
            <a:srgbClr val="5CE1E6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786313" y="2555677"/>
            <a:ext cx="21431" cy="592931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929188" y="2662833"/>
            <a:ext cx="36433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735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Recomendações Incoerentes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929188" y="2870002"/>
            <a:ext cx="36433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Múltiplos clientes impactados com saídas de IA degradadas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786313" y="3291483"/>
            <a:ext cx="3929063" cy="592931"/>
          </a:xfrm>
          <a:prstGeom prst="rect">
            <a:avLst/>
          </a:prstGeom>
          <a:solidFill>
            <a:srgbClr val="5CE1E6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786313" y="3291483"/>
            <a:ext cx="21431" cy="592931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929188" y="3398639"/>
            <a:ext cx="36433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735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Escalonamento Descontrolado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929188" y="3605808"/>
            <a:ext cx="36433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Aumento abrupto de custo operacional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786313" y="4027289"/>
            <a:ext cx="3929063" cy="592931"/>
          </a:xfrm>
          <a:prstGeom prst="rect">
            <a:avLst/>
          </a:prstGeom>
          <a:solidFill>
            <a:srgbClr val="5CE1E6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786313" y="4027289"/>
            <a:ext cx="21431" cy="592931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929188" y="4134445"/>
            <a:ext cx="36433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735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Risco de SLA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929188" y="4341614"/>
            <a:ext cx="36433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Alto risco de quebra em 3 regiões simultâneas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0" y="4905970"/>
            <a:ext cx="9144000" cy="408980"/>
          </a:xfrm>
          <a:prstGeom prst="rect">
            <a:avLst/>
          </a:prstGeom>
          <a:solidFill>
            <a:srgbClr val="0F1419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0" y="4905970"/>
            <a:ext cx="9144000" cy="7144"/>
          </a:xfrm>
          <a:prstGeom prst="rect">
            <a:avLst/>
          </a:prstGeom>
          <a:solidFill>
            <a:srgbClr val="DE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428625" y="5048845"/>
            <a:ext cx="179656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Ex Ferro Lux — Da Ferrugem, a Luz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7822155" y="5048845"/>
            <a:ext cx="89322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FASE 1 — Colapso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" name="Google Shape;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53771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0" y="0"/>
            <a:ext cx="9144000" cy="104477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0" y="1037630"/>
            <a:ext cx="9144000" cy="7144"/>
          </a:xfrm>
          <a:prstGeom prst="rect">
            <a:avLst/>
          </a:prstGeom>
          <a:solidFill>
            <a:srgbClr val="DE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428625" y="357188"/>
            <a:ext cx="828675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Mapeando o Cérebro do Sistema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063" y="2127107"/>
            <a:ext cx="2857500" cy="190498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3786188" y="1323380"/>
            <a:ext cx="492918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🧭 Análise de Topologia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786188" y="1585913"/>
            <a:ext cx="4929188" cy="572895"/>
          </a:xfrm>
          <a:prstGeom prst="rect">
            <a:avLst/>
          </a:prstGeom>
          <a:solidFill>
            <a:srgbClr val="5CE1E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3786188" y="1585913"/>
            <a:ext cx="14288" cy="572895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3893344" y="1671638"/>
            <a:ext cx="4714875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790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Modularidade: 0,3267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893344" y="1913074"/>
            <a:ext cx="4714875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Arquitetura excessivamente acoplada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786188" y="2265964"/>
            <a:ext cx="4929188" cy="572895"/>
          </a:xfrm>
          <a:prstGeom prst="rect">
            <a:avLst/>
          </a:prstGeom>
          <a:solidFill>
            <a:srgbClr val="5CE1E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786188" y="2265964"/>
            <a:ext cx="14288" cy="572895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3893344" y="2351689"/>
            <a:ext cx="4714875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790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Nó Crítico: telemetry_gateway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893344" y="2593125"/>
            <a:ext cx="4714875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Maior betweenness centrality (≈ 0,1059) — verdadeiro gargalo estrutural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786188" y="2946016"/>
            <a:ext cx="4929188" cy="572895"/>
          </a:xfrm>
          <a:prstGeom prst="rect">
            <a:avLst/>
          </a:prstGeom>
          <a:solidFill>
            <a:srgbClr val="5CE1E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786188" y="2946016"/>
            <a:ext cx="14288" cy="572895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3893344" y="3031741"/>
            <a:ext cx="4714875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790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Nó Vulnerável: reco_engine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893344" y="3273177"/>
            <a:ext cx="4714875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Maior In-Degree (11) — altamente vulnerável a falhas upstream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786188" y="3733223"/>
            <a:ext cx="492918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🔍 Conclusão Crítica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786188" y="3995756"/>
            <a:ext cx="4929188" cy="840088"/>
          </a:xfrm>
          <a:prstGeom prst="rect">
            <a:avLst/>
          </a:prstGeom>
          <a:solidFill>
            <a:srgbClr val="FFB347">
              <a:alpha val="4705"/>
            </a:srgbClr>
          </a:solidFill>
          <a:ln cap="flat" cmpd="sng" w="9525">
            <a:solidFill>
              <a:srgbClr val="FFB347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3786188" y="3995756"/>
            <a:ext cx="4929188" cy="84008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50" lIns="170050" spcFirstLastPara="1" rIns="170050" wrap="square" tIns="170050">
            <a:spAutoFit/>
          </a:bodyPr>
          <a:lstStyle/>
          <a:p>
            <a:pPr indent="0" lvl="0" marL="0" marR="0" rtl="0" algn="l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27"/>
              <a:buFont typeface="Calibri"/>
              <a:buNone/>
            </a:pPr>
            <a:r>
              <a:rPr b="0" i="1" lang="en-US" sz="727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O incidente não era apenas operacional: era sintoma de uma arquitetura monolítica disfarçada de distribuída. Helius possuía "pontos de estrangulamento" que, se afetados, propagavam falhas para todo o sistema.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0" y="5107307"/>
            <a:ext cx="9144000" cy="408980"/>
          </a:xfrm>
          <a:prstGeom prst="rect">
            <a:avLst/>
          </a:prstGeom>
          <a:solidFill>
            <a:srgbClr val="0F1419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0" y="5107307"/>
            <a:ext cx="9144000" cy="7144"/>
          </a:xfrm>
          <a:prstGeom prst="rect">
            <a:avLst/>
          </a:prstGeom>
          <a:solidFill>
            <a:srgbClr val="DE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28625" y="5250182"/>
            <a:ext cx="179656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Ex Ferro Lux — Da Ferrugem, a Luz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7596150" y="5250182"/>
            <a:ext cx="111922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FASE 2 — Diagnóstico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0" y="0"/>
            <a:ext cx="9144000" cy="104477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1037630"/>
            <a:ext cx="9144000" cy="7144"/>
          </a:xfrm>
          <a:prstGeom prst="rect">
            <a:avLst/>
          </a:prstGeom>
          <a:solidFill>
            <a:srgbClr val="DE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28625" y="357188"/>
            <a:ext cx="828675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Helius v2: O Sistema que se Observa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0438" y="1323380"/>
            <a:ext cx="214312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/>
          <p:nvPr/>
        </p:nvSpPr>
        <p:spPr>
          <a:xfrm>
            <a:off x="428625" y="2966442"/>
            <a:ext cx="1964531" cy="1421160"/>
          </a:xfrm>
          <a:prstGeom prst="rect">
            <a:avLst/>
          </a:prstGeom>
          <a:solidFill>
            <a:srgbClr val="5CE1E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428625" y="2966442"/>
            <a:ext cx="21431" cy="1421160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71500" y="3109317"/>
            <a:ext cx="167878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71500" y="3429000"/>
            <a:ext cx="167878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Isolamento Modular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71500" y="3650456"/>
            <a:ext cx="1678781" cy="594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Regiões independentes em modo ativo/ativo. Domínios de falha claramente delimitados entre ingestão, IA, dados e observabilidade.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536031" y="2966442"/>
            <a:ext cx="1964531" cy="1421160"/>
          </a:xfrm>
          <a:prstGeom prst="rect">
            <a:avLst/>
          </a:prstGeom>
          <a:solidFill>
            <a:srgbClr val="5CE1E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2536031" y="2966442"/>
            <a:ext cx="21431" cy="1421160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2678906" y="3109317"/>
            <a:ext cx="167878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👁️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2678906" y="3429000"/>
            <a:ext cx="167878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Observabilidade Reflexiva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678906" y="3650456"/>
            <a:ext cx="1678781" cy="594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Camada de monitoramento desacoplada dos serviços de negócio. Coletores operando mesmo sob degradação do tráfego.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643438" y="2966442"/>
            <a:ext cx="1964531" cy="1421160"/>
          </a:xfrm>
          <a:prstGeom prst="rect">
            <a:avLst/>
          </a:prstGeom>
          <a:solidFill>
            <a:srgbClr val="5CE1E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4643438" y="2966442"/>
            <a:ext cx="21431" cy="1421160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4786313" y="3109317"/>
            <a:ext cx="167878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786313" y="3429000"/>
            <a:ext cx="167878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IA Confiável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786313" y="3650456"/>
            <a:ext cx="1678781" cy="445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Validação de outputs via camadas de guarda. Registro sistemático de decisões, métricas de drift e fairness.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750844" y="2966442"/>
            <a:ext cx="1964531" cy="1421160"/>
          </a:xfrm>
          <a:prstGeom prst="rect">
            <a:avLst/>
          </a:prstGeom>
          <a:solidFill>
            <a:srgbClr val="5CE1E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6750844" y="2966442"/>
            <a:ext cx="21431" cy="1421160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6893719" y="3109317"/>
            <a:ext cx="167878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☸️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893719" y="3429000"/>
            <a:ext cx="167878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Controle Cibernético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893719" y="3650456"/>
            <a:ext cx="1678781" cy="445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Loops de feedback: detecção → isolamento → modo degradado → recuperação. Self-healing automático.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0" y="4734520"/>
            <a:ext cx="9144000" cy="408980"/>
          </a:xfrm>
          <a:prstGeom prst="rect">
            <a:avLst/>
          </a:prstGeom>
          <a:solidFill>
            <a:srgbClr val="0F1419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0" y="4734520"/>
            <a:ext cx="9144000" cy="7144"/>
          </a:xfrm>
          <a:prstGeom prst="rect">
            <a:avLst/>
          </a:prstGeom>
          <a:solidFill>
            <a:srgbClr val="DE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428625" y="4884539"/>
            <a:ext cx="179656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Ex Ferro Lux — Da Ferrugem, a Luz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500965" y="4884539"/>
            <a:ext cx="121441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FASE 3 — Reconstrução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0" y="0"/>
            <a:ext cx="9144000" cy="104477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0" y="1037630"/>
            <a:ext cx="9144000" cy="7144"/>
          </a:xfrm>
          <a:prstGeom prst="rect">
            <a:avLst/>
          </a:prstGeom>
          <a:solidFill>
            <a:srgbClr val="DE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428625" y="357188"/>
            <a:ext cx="828675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Testando a Arquitetura Contra o Caos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28625" y="1323380"/>
            <a:ext cx="8286750" cy="618632"/>
          </a:xfrm>
          <a:prstGeom prst="rect">
            <a:avLst/>
          </a:prstGeom>
          <a:solidFill>
            <a:srgbClr val="5CE1E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28625" y="1323380"/>
            <a:ext cx="21431" cy="618632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607219" y="1466255"/>
            <a:ext cx="3821906" cy="13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Execução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07219" y="1639128"/>
            <a:ext cx="3821906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200 rodadas Monte Carlo por arquitetura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714875" y="1466255"/>
            <a:ext cx="3821906" cy="13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Comparação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714875" y="1639128"/>
            <a:ext cx="3821906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Arquitetura Legacy vs Arquitetura Resilient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28625" y="2156324"/>
            <a:ext cx="2643188" cy="1400928"/>
          </a:xfrm>
          <a:prstGeom prst="rect">
            <a:avLst/>
          </a:prstGeom>
          <a:solidFill>
            <a:srgbClr val="FFB347">
              <a:alpha val="4705"/>
            </a:srgbClr>
          </a:solidFill>
          <a:ln cap="flat" cmpd="sng" w="9525">
            <a:solidFill>
              <a:srgbClr val="FFB347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571500" y="2334918"/>
            <a:ext cx="23574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6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4"/>
              <a:buFont typeface="Calibri"/>
              <a:buNone/>
            </a:pPr>
            <a:r>
              <a:rPr b="0" i="0" lang="en-US" sz="170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🌍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71500" y="2670674"/>
            <a:ext cx="235743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Falha Regional Total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71500" y="2933207"/>
            <a:ext cx="2357438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Outage completo de us-east-1 e propagação de falha para outras regiões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3250406" y="2156324"/>
            <a:ext cx="2643188" cy="1400928"/>
          </a:xfrm>
          <a:prstGeom prst="rect">
            <a:avLst/>
          </a:prstGeom>
          <a:solidFill>
            <a:srgbClr val="FFB347">
              <a:alpha val="4705"/>
            </a:srgbClr>
          </a:solidFill>
          <a:ln cap="flat" cmpd="sng" w="9525">
            <a:solidFill>
              <a:srgbClr val="FFB347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3393281" y="2334918"/>
            <a:ext cx="23574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6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4"/>
              <a:buFont typeface="Calibri"/>
              <a:buNone/>
            </a:pPr>
            <a:r>
              <a:rPr b="0" i="0" lang="en-US" sz="170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📡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3393281" y="2670674"/>
            <a:ext cx="235743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Duplicação de Tráfego MQTT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393281" y="2933207"/>
            <a:ext cx="2357438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Backpressure severo na ingestão de dados com perda de ACKs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072188" y="2156324"/>
            <a:ext cx="2643188" cy="1400928"/>
          </a:xfrm>
          <a:prstGeom prst="rect">
            <a:avLst/>
          </a:prstGeom>
          <a:solidFill>
            <a:srgbClr val="FFB347">
              <a:alpha val="4705"/>
            </a:srgbClr>
          </a:solidFill>
          <a:ln cap="flat" cmpd="sng" w="9525">
            <a:solidFill>
              <a:srgbClr val="FFB347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6215063" y="2334918"/>
            <a:ext cx="23574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6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4"/>
              <a:buFont typeface="Calibri"/>
              <a:buNone/>
            </a:pPr>
            <a:r>
              <a:rPr b="0" i="0" lang="en-US" sz="170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215063" y="2670674"/>
            <a:ext cx="235743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Drift de IA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6215063" y="2933207"/>
            <a:ext cx="2357438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Aumento da taxa de saídas inválidas com ou sem mecanismos de fallback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28625" y="3771565"/>
            <a:ext cx="8286750" cy="677205"/>
          </a:xfrm>
          <a:prstGeom prst="rect">
            <a:avLst/>
          </a:prstGeom>
          <a:solidFill>
            <a:srgbClr val="FFB347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428625" y="3771565"/>
            <a:ext cx="21431" cy="677205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607219" y="3914440"/>
            <a:ext cx="79295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🎯 Objetivo da Simulação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07219" y="4157328"/>
            <a:ext cx="2547919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Medir a propagação da falha através da topologia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298013" y="4157328"/>
            <a:ext cx="2547947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Quantificar o tempo em estado crítico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988834" y="4157328"/>
            <a:ext cx="2547919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Validar eficácia dos mecanismos de contenção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0" y="4734520"/>
            <a:ext cx="9144000" cy="408980"/>
          </a:xfrm>
          <a:prstGeom prst="rect">
            <a:avLst/>
          </a:prstGeom>
          <a:solidFill>
            <a:srgbClr val="0F1419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0" y="4734520"/>
            <a:ext cx="9144000" cy="7144"/>
          </a:xfrm>
          <a:prstGeom prst="rect">
            <a:avLst/>
          </a:prstGeom>
          <a:solidFill>
            <a:srgbClr val="DE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428625" y="4884539"/>
            <a:ext cx="179656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Ex Ferro Lux — Da Ferrugem, a Luz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7500965" y="4884539"/>
            <a:ext cx="121441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FASE 3 — Reconstrução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3" name="Google Shape;1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79794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/>
          <p:nvPr/>
        </p:nvSpPr>
        <p:spPr>
          <a:xfrm>
            <a:off x="0" y="0"/>
            <a:ext cx="9144000" cy="15109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0" y="1503759"/>
            <a:ext cx="9144000" cy="7144"/>
          </a:xfrm>
          <a:prstGeom prst="rect">
            <a:avLst/>
          </a:prstGeom>
          <a:solidFill>
            <a:srgbClr val="DE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428625" y="357188"/>
            <a:ext cx="8286750" cy="932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Resiliência Quantificada: Antes e Depois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781" y="2871229"/>
            <a:ext cx="3214688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/>
          <p:nvPr/>
        </p:nvSpPr>
        <p:spPr>
          <a:xfrm>
            <a:off x="4214813" y="1860947"/>
            <a:ext cx="45005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⚙️ Topologia e Falhas Estruturais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214813" y="2146697"/>
            <a:ext cx="4500563" cy="287536"/>
          </a:xfrm>
          <a:prstGeom prst="rect">
            <a:avLst/>
          </a:prstGeom>
          <a:solidFill>
            <a:srgbClr val="5CE1E6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4214813" y="2146697"/>
            <a:ext cx="14288" cy="287536"/>
          </a:xfrm>
          <a:prstGeom prst="rect">
            <a:avLst/>
          </a:prstGeom>
          <a:solidFill>
            <a:srgbClr val="FFE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4300538" y="2225446"/>
            <a:ext cx="3072092" cy="13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Fração média de nós falhos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7479785" y="2232422"/>
            <a:ext cx="17103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0,41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7707967" y="2227064"/>
            <a:ext cx="85753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7850870" y="2232422"/>
            <a:ext cx="171562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0,17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8129588" y="2218134"/>
            <a:ext cx="500063" cy="144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−59%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214813" y="2519958"/>
            <a:ext cx="4500563" cy="287536"/>
          </a:xfrm>
          <a:prstGeom prst="rect">
            <a:avLst/>
          </a:prstGeom>
          <a:solidFill>
            <a:srgbClr val="5CE1E6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4214813" y="2519958"/>
            <a:ext cx="14288" cy="287536"/>
          </a:xfrm>
          <a:prstGeom prst="rect">
            <a:avLst/>
          </a:prstGeom>
          <a:solidFill>
            <a:srgbClr val="FFE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4300538" y="2598706"/>
            <a:ext cx="3072092" cy="13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Fração média de nós críticos falhos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7479785" y="2605683"/>
            <a:ext cx="17103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0,62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7707967" y="2600325"/>
            <a:ext cx="85753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7850870" y="2605683"/>
            <a:ext cx="171562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0,21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8129588" y="2591395"/>
            <a:ext cx="500063" cy="144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−66%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214813" y="2893219"/>
            <a:ext cx="4500563" cy="278606"/>
          </a:xfrm>
          <a:prstGeom prst="rect">
            <a:avLst/>
          </a:prstGeom>
          <a:solidFill>
            <a:srgbClr val="5CE1E6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4214813" y="2893219"/>
            <a:ext cx="14288" cy="278606"/>
          </a:xfrm>
          <a:prstGeom prst="rect">
            <a:avLst/>
          </a:prstGeom>
          <a:solidFill>
            <a:srgbClr val="FFE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300538" y="2967503"/>
            <a:ext cx="3121121" cy="13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Tamanho do maior componente conectado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7528815" y="2974479"/>
            <a:ext cx="122002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7,4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7707967" y="2969121"/>
            <a:ext cx="85753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7850870" y="2974479"/>
            <a:ext cx="171562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13,2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8129588" y="2964656"/>
            <a:ext cx="5000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+78%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214813" y="3350419"/>
            <a:ext cx="45005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📥 Backpressure e Ingestão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4214813" y="3636169"/>
            <a:ext cx="4500563" cy="287536"/>
          </a:xfrm>
          <a:prstGeom prst="rect">
            <a:avLst/>
          </a:prstGeom>
          <a:solidFill>
            <a:srgbClr val="5CE1E6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4214813" y="3636169"/>
            <a:ext cx="14288" cy="287536"/>
          </a:xfrm>
          <a:prstGeom prst="rect">
            <a:avLst/>
          </a:prstGeom>
          <a:solidFill>
            <a:srgbClr val="FFE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4300538" y="3714917"/>
            <a:ext cx="3071422" cy="13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Máx. fila de ingestão (msgs)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7479116" y="3721894"/>
            <a:ext cx="19614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2180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7732412" y="3716536"/>
            <a:ext cx="85753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7875315" y="3721894"/>
            <a:ext cx="147117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690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8129588" y="3707606"/>
            <a:ext cx="500063" cy="144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−68%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214813" y="4009430"/>
            <a:ext cx="4500563" cy="287536"/>
          </a:xfrm>
          <a:prstGeom prst="rect">
            <a:avLst/>
          </a:prstGeom>
          <a:solidFill>
            <a:srgbClr val="5CE1E6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4214813" y="4009430"/>
            <a:ext cx="14288" cy="287536"/>
          </a:xfrm>
          <a:prstGeom prst="rect">
            <a:avLst/>
          </a:prstGeom>
          <a:solidFill>
            <a:srgbClr val="FFE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300538" y="4088178"/>
            <a:ext cx="3036540" cy="13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Tempo acima do limiar crítico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7444234" y="4095155"/>
            <a:ext cx="21302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27,8s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7714413" y="4089797"/>
            <a:ext cx="85753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7857316" y="4095155"/>
            <a:ext cx="16511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4,9s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8129588" y="4080867"/>
            <a:ext cx="500063" cy="144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−82%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4214813" y="4475559"/>
            <a:ext cx="45005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🧠 IA, Drift e Fallback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4214813" y="4761309"/>
            <a:ext cx="4500563" cy="287536"/>
          </a:xfrm>
          <a:prstGeom prst="rect">
            <a:avLst/>
          </a:prstGeom>
          <a:solidFill>
            <a:srgbClr val="5CE1E6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4214813" y="4761309"/>
            <a:ext cx="14288" cy="287536"/>
          </a:xfrm>
          <a:prstGeom prst="rect">
            <a:avLst/>
          </a:prstGeom>
          <a:solidFill>
            <a:srgbClr val="FFE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4300538" y="4840058"/>
            <a:ext cx="2974032" cy="13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Taxa média de outputs inválidos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7381726" y="4847034"/>
            <a:ext cx="22006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0,065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7658937" y="4841677"/>
            <a:ext cx="85753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7801840" y="4847034"/>
            <a:ext cx="22059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0,018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8129588" y="4832747"/>
            <a:ext cx="500063" cy="144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−72%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4214813" y="5134570"/>
            <a:ext cx="4500563" cy="278606"/>
          </a:xfrm>
          <a:prstGeom prst="rect">
            <a:avLst/>
          </a:prstGeom>
          <a:solidFill>
            <a:srgbClr val="5CE1E6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4214813" y="5134570"/>
            <a:ext cx="14288" cy="278606"/>
          </a:xfrm>
          <a:prstGeom prst="rect">
            <a:avLst/>
          </a:prstGeom>
          <a:solidFill>
            <a:srgbClr val="FFE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4300538" y="5208854"/>
            <a:ext cx="3115289" cy="13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Proporção com fallback ativado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7522983" y="5215830"/>
            <a:ext cx="124067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7704200" y="5210473"/>
            <a:ext cx="85753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7847102" y="5215830"/>
            <a:ext cx="17532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42%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8129588" y="5206008"/>
            <a:ext cx="5000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+42%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4214813" y="5570339"/>
            <a:ext cx="4500563" cy="525735"/>
          </a:xfrm>
          <a:prstGeom prst="rect">
            <a:avLst/>
          </a:prstGeom>
          <a:solidFill>
            <a:srgbClr val="FFB347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4214813" y="5570339"/>
            <a:ext cx="4500563" cy="7144"/>
          </a:xfrm>
          <a:prstGeom prst="rect">
            <a:avLst/>
          </a:prstGeom>
          <a:solidFill>
            <a:srgbClr val="FFE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8708231" y="5570339"/>
            <a:ext cx="7144" cy="525735"/>
          </a:xfrm>
          <a:prstGeom prst="rect">
            <a:avLst/>
          </a:prstGeom>
          <a:solidFill>
            <a:srgbClr val="FFE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4214813" y="6088931"/>
            <a:ext cx="4500563" cy="7144"/>
          </a:xfrm>
          <a:prstGeom prst="rect">
            <a:avLst/>
          </a:prstGeom>
          <a:solidFill>
            <a:srgbClr val="FFE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4214813" y="5570339"/>
            <a:ext cx="21431" cy="525735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4214813" y="5570339"/>
            <a:ext cx="4500563" cy="525735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O sistema passa a reagir ativamente ao desvio de comportamento, ativando mecanismos de contenção e fallback.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0" y="6367537"/>
            <a:ext cx="9144000" cy="408980"/>
          </a:xfrm>
          <a:prstGeom prst="rect">
            <a:avLst/>
          </a:prstGeom>
          <a:solidFill>
            <a:srgbClr val="0F1419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0" y="6367537"/>
            <a:ext cx="9144000" cy="7144"/>
          </a:xfrm>
          <a:prstGeom prst="rect">
            <a:avLst/>
          </a:prstGeom>
          <a:solidFill>
            <a:srgbClr val="DE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428625" y="6510412"/>
            <a:ext cx="179656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Ex Ferro Lux — Da Ferrugem, a Luz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7500965" y="6510412"/>
            <a:ext cx="121441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FASE 3 — Reconstrução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"/>
          <p:cNvSpPr/>
          <p:nvPr/>
        </p:nvSpPr>
        <p:spPr>
          <a:xfrm>
            <a:off x="0" y="0"/>
            <a:ext cx="9144000" cy="115438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0" y="1147242"/>
            <a:ext cx="9144000" cy="7144"/>
          </a:xfrm>
          <a:prstGeom prst="rect">
            <a:avLst/>
          </a:prstGeom>
          <a:solidFill>
            <a:srgbClr val="DE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428625" y="250031"/>
            <a:ext cx="8286750" cy="754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152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Resiliência como Inteligência de Controle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0438" y="1325835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7"/>
          <p:cNvSpPr/>
          <p:nvPr/>
        </p:nvSpPr>
        <p:spPr>
          <a:xfrm>
            <a:off x="428625" y="3611835"/>
            <a:ext cx="4089797" cy="700088"/>
          </a:xfrm>
          <a:prstGeom prst="rect">
            <a:avLst/>
          </a:prstGeom>
          <a:solidFill>
            <a:srgbClr val="5CE1E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428625" y="3611835"/>
            <a:ext cx="4089797" cy="7144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4511278" y="3611835"/>
            <a:ext cx="7144" cy="700088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428625" y="4304779"/>
            <a:ext cx="4089797" cy="7144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428625" y="3611835"/>
            <a:ext cx="21431" cy="700088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535781" y="3718992"/>
            <a:ext cx="387548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☸️ Detect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535781" y="3911873"/>
            <a:ext cx="3875484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Monitoramento contínuo de métricas de saúde e desvio de comportamento (drift de IA, latência, taxa de erro).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4625578" y="3611835"/>
            <a:ext cx="4089797" cy="700088"/>
          </a:xfrm>
          <a:prstGeom prst="rect">
            <a:avLst/>
          </a:prstGeom>
          <a:solidFill>
            <a:srgbClr val="5CE1E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4625578" y="3611835"/>
            <a:ext cx="4089797" cy="7144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8708231" y="3611835"/>
            <a:ext cx="7144" cy="700088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4625578" y="4304779"/>
            <a:ext cx="4089797" cy="7144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4625578" y="3611835"/>
            <a:ext cx="21431" cy="700088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4732734" y="3718992"/>
            <a:ext cx="387548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🔒 Isolate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732734" y="3911873"/>
            <a:ext cx="3875484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Circuit Breakers e Bulkheads para isolar domínios de falha (ex.: desativar reco_engine em caso de falha de ingestão).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428625" y="4404792"/>
            <a:ext cx="4089797" cy="700088"/>
          </a:xfrm>
          <a:prstGeom prst="rect">
            <a:avLst/>
          </a:prstGeom>
          <a:solidFill>
            <a:srgbClr val="5CE1E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428625" y="4404792"/>
            <a:ext cx="4089797" cy="7144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4511278" y="4404792"/>
            <a:ext cx="7144" cy="700088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428625" y="5097735"/>
            <a:ext cx="4089797" cy="7144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428625" y="4404792"/>
            <a:ext cx="21431" cy="700088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535781" y="4511948"/>
            <a:ext cx="387548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⬇️ Degrade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535781" y="4704829"/>
            <a:ext cx="3875484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Ativação de modo degradado (ex.: fallback para modelo de IA mais simples, cache estático, respostas padrão).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4625578" y="4404792"/>
            <a:ext cx="4089797" cy="700088"/>
          </a:xfrm>
          <a:prstGeom prst="rect">
            <a:avLst/>
          </a:prstGeom>
          <a:solidFill>
            <a:srgbClr val="5CE1E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4625578" y="4404792"/>
            <a:ext cx="4089797" cy="7144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8708231" y="4404792"/>
            <a:ext cx="7144" cy="700088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4625578" y="5097735"/>
            <a:ext cx="4089797" cy="7144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4625578" y="4404792"/>
            <a:ext cx="21431" cy="700088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4732734" y="4511948"/>
            <a:ext cx="387548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🔄 Recover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4732734" y="4704829"/>
            <a:ext cx="3875484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Automação de remediação (ex.: reinício de pods, failover regional, rollback de configuração, escalamento).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428625" y="5233467"/>
            <a:ext cx="8286750" cy="557185"/>
          </a:xfrm>
          <a:prstGeom prst="rect">
            <a:avLst/>
          </a:prstGeom>
          <a:solidFill>
            <a:srgbClr val="FFB347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428625" y="5233467"/>
            <a:ext cx="8286750" cy="7144"/>
          </a:xfrm>
          <a:prstGeom prst="rect">
            <a:avLst/>
          </a:prstGeom>
          <a:solidFill>
            <a:srgbClr val="FFE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8708231" y="5233467"/>
            <a:ext cx="7144" cy="557185"/>
          </a:xfrm>
          <a:prstGeom prst="rect">
            <a:avLst/>
          </a:prstGeom>
          <a:solidFill>
            <a:srgbClr val="FFE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428625" y="5783507"/>
            <a:ext cx="8286750" cy="7144"/>
          </a:xfrm>
          <a:prstGeom prst="rect">
            <a:avLst/>
          </a:prstGeom>
          <a:solidFill>
            <a:srgbClr val="FFE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428625" y="5233467"/>
            <a:ext cx="21431" cy="557185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535781" y="5340623"/>
            <a:ext cx="8072438" cy="125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7265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534"/>
              <a:buFont typeface="Calibri"/>
              <a:buNone/>
            </a:pPr>
            <a:r>
              <a:rPr b="1" i="1" lang="en-US" sz="53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Princípio Fundamental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1792077" y="5519914"/>
            <a:ext cx="555981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27"/>
              <a:buFont typeface="Calibri"/>
              <a:buNone/>
            </a:pPr>
            <a:r>
              <a:rPr b="0" i="1" lang="en-US" sz="727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O sistema é capaz de tomar medidas autônomas para preservar sua própria integridade, sem intervenção humana imediata.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0" y="5954957"/>
            <a:ext cx="9144000" cy="328613"/>
          </a:xfrm>
          <a:prstGeom prst="rect">
            <a:avLst/>
          </a:prstGeom>
          <a:solidFill>
            <a:srgbClr val="0F1419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0" y="5954957"/>
            <a:ext cx="9144000" cy="7144"/>
          </a:xfrm>
          <a:prstGeom prst="rect">
            <a:avLst/>
          </a:prstGeom>
          <a:solidFill>
            <a:srgbClr val="DE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428625" y="6062114"/>
            <a:ext cx="166647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Ex Ferro Lux — Da Ferrugem, a Luz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7589676" y="6062114"/>
            <a:ext cx="112569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FASE 3 — Reconstrução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3" name="Google Shape;29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398777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8"/>
          <p:cNvSpPr/>
          <p:nvPr/>
        </p:nvSpPr>
        <p:spPr>
          <a:xfrm>
            <a:off x="0" y="0"/>
            <a:ext cx="9144000" cy="15109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0" y="1503759"/>
            <a:ext cx="9144000" cy="7144"/>
          </a:xfrm>
          <a:prstGeom prst="rect">
            <a:avLst/>
          </a:prstGeom>
          <a:solidFill>
            <a:srgbClr val="DE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428625" y="357188"/>
            <a:ext cx="8286750" cy="932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Transparência e Controle: O Painel Helius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428625" y="1789509"/>
            <a:ext cx="2571750" cy="2907395"/>
          </a:xfrm>
          <a:prstGeom prst="rect">
            <a:avLst/>
          </a:prstGeom>
          <a:solidFill>
            <a:srgbClr val="5CE1E6">
              <a:alpha val="4705"/>
            </a:srgbClr>
          </a:solidFill>
          <a:ln cap="flat" cmpd="sng" w="9525">
            <a:solidFill>
              <a:srgbClr val="5CE1E6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607219" y="2003822"/>
            <a:ext cx="221456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1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4"/>
              <a:buFont typeface="Calibri"/>
              <a:buNone/>
            </a:pPr>
            <a:r>
              <a:rPr b="0" i="0" lang="en-US" sz="170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607219" y="2432447"/>
            <a:ext cx="2214563" cy="33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Dashboard de Observabilidade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728663" y="2909627"/>
            <a:ext cx="209311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Visualização em tempo real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728663" y="3105355"/>
            <a:ext cx="209311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Estado de resiliência (não apenas uptime)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728663" y="3351088"/>
            <a:ext cx="209311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Métricas de resiliência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728663" y="3546816"/>
            <a:ext cx="2093119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Modularidade, centralidade e taxa de falha de propagação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728663" y="3952559"/>
            <a:ext cx="209311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Transparência total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728663" y="4148286"/>
            <a:ext cx="2093119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Visibilidade em todas as camadas da arquitetura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3286125" y="1789509"/>
            <a:ext cx="2571750" cy="2900251"/>
          </a:xfrm>
          <a:prstGeom prst="rect">
            <a:avLst/>
          </a:prstGeom>
          <a:solidFill>
            <a:srgbClr val="5CE1E6">
              <a:alpha val="4705"/>
            </a:srgbClr>
          </a:solidFill>
          <a:ln cap="flat" cmpd="sng" w="9525">
            <a:solidFill>
              <a:srgbClr val="5CE1E6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3464719" y="2003822"/>
            <a:ext cx="221456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1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4"/>
              <a:buFont typeface="Calibri"/>
              <a:buNone/>
            </a:pPr>
            <a:r>
              <a:rPr b="0" i="0" lang="en-US" sz="170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3464719" y="2432447"/>
            <a:ext cx="2214563" cy="16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Simulação Contínua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3586163" y="2742474"/>
            <a:ext cx="209311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Chaos Engineering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3586163" y="2938202"/>
            <a:ext cx="2093119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Testes de caos integrados em produção (pequena escala)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3586163" y="3343945"/>
            <a:ext cx="209311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Validação automática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3586163" y="3539672"/>
            <a:ext cx="2093119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Eficácia dos mecanismos de self-healing verificada continuamente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3586163" y="3945415"/>
            <a:ext cx="209311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Aprendizado contínuo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3586163" y="4141143"/>
            <a:ext cx="2093119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Sistema evolui através de testes sistemáticos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6143625" y="1789509"/>
            <a:ext cx="2571750" cy="2893107"/>
          </a:xfrm>
          <a:prstGeom prst="rect">
            <a:avLst/>
          </a:prstGeom>
          <a:solidFill>
            <a:srgbClr val="5CE1E6">
              <a:alpha val="4705"/>
            </a:srgbClr>
          </a:solidFill>
          <a:ln cap="flat" cmpd="sng" w="9525">
            <a:solidFill>
              <a:srgbClr val="5CE1E6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6322219" y="2003822"/>
            <a:ext cx="221456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1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4"/>
              <a:buFont typeface="Calibri"/>
              <a:buNone/>
            </a:pPr>
            <a:r>
              <a:rPr b="0" i="0" lang="en-US" sz="170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6322219" y="2432447"/>
            <a:ext cx="2214563" cy="16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Inteligência Preditiva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6443663" y="2742474"/>
            <a:ext cx="209311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Previsão de falhas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6443663" y="2938202"/>
            <a:ext cx="2093119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Modelos de ML para probabilidade de falha em cascata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6443663" y="3343945"/>
            <a:ext cx="209311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Alertas proativos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6443663" y="3539672"/>
            <a:ext cx="209311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Intervenção humana antes do colapso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6443663" y="3785406"/>
            <a:ext cx="209311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Recomendações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6443663" y="3981134"/>
            <a:ext cx="2093119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Sugestões de ações preventivas baseadas em padrões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0" y="4968367"/>
            <a:ext cx="9144000" cy="408980"/>
          </a:xfrm>
          <a:prstGeom prst="rect">
            <a:avLst/>
          </a:prstGeom>
          <a:solidFill>
            <a:srgbClr val="0F1419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0" y="4968367"/>
            <a:ext cx="9144000" cy="7144"/>
          </a:xfrm>
          <a:prstGeom prst="rect">
            <a:avLst/>
          </a:prstGeom>
          <a:solidFill>
            <a:srgbClr val="DE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428625" y="5111242"/>
            <a:ext cx="179656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Ex Ferro Lux — Da Ferrugem, a Luz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7500965" y="5111242"/>
            <a:ext cx="121441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FASE 3 — Reconstrução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3" name="Google Shape;3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56690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9"/>
          <p:cNvSpPr/>
          <p:nvPr/>
        </p:nvSpPr>
        <p:spPr>
          <a:xfrm>
            <a:off x="0" y="0"/>
            <a:ext cx="9144000" cy="104477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0" y="1037630"/>
            <a:ext cx="9144000" cy="7144"/>
          </a:xfrm>
          <a:prstGeom prst="rect">
            <a:avLst/>
          </a:prstGeom>
          <a:solidFill>
            <a:srgbClr val="DE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428625" y="357188"/>
            <a:ext cx="828675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Ex Ferro Lux: Da Ferrugem, a Luz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28625" y="1323380"/>
            <a:ext cx="2619356" cy="3541654"/>
          </a:xfrm>
          <a:prstGeom prst="rect">
            <a:avLst/>
          </a:prstGeom>
          <a:solidFill>
            <a:srgbClr val="5CE1E6">
              <a:alpha val="4705"/>
            </a:srgbClr>
          </a:solidFill>
          <a:ln cap="flat" cmpd="sng" w="9525">
            <a:solidFill>
              <a:srgbClr val="5CE1E6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428625" y="1323380"/>
            <a:ext cx="2605041" cy="28575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607219" y="1537692"/>
            <a:ext cx="226216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607219" y="1816298"/>
            <a:ext cx="226216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Próximos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607219" y="2182416"/>
            <a:ext cx="2262169" cy="240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3 meses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607219" y="2565304"/>
            <a:ext cx="22621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Rollout e Treinamento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728663" y="3063580"/>
            <a:ext cx="2140725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Migração Completa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728663" y="3244295"/>
            <a:ext cx="204953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Rollout de Helius v2 em todas as regiões (100%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728663" y="3392863"/>
            <a:ext cx="58963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de cobertura)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728663" y="3616440"/>
            <a:ext cx="2140725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Capacitação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728663" y="3797154"/>
            <a:ext cx="2096077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Treinamento e certificação das equipes de SRE e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728663" y="3945722"/>
            <a:ext cx="935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Engenharia de Dados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728663" y="4169299"/>
            <a:ext cx="2140725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Validação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728663" y="4350014"/>
            <a:ext cx="1652439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Testes de resiliência em produção sob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728663" y="4498581"/>
            <a:ext cx="47363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supervisão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3126563" y="3087049"/>
            <a:ext cx="171450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3262294" y="1323380"/>
            <a:ext cx="2619384" cy="3393086"/>
          </a:xfrm>
          <a:prstGeom prst="rect">
            <a:avLst/>
          </a:prstGeom>
          <a:solidFill>
            <a:srgbClr val="5CE1E6">
              <a:alpha val="4705"/>
            </a:srgbClr>
          </a:solidFill>
          <a:ln cap="flat" cmpd="sng" w="9525">
            <a:solidFill>
              <a:srgbClr val="5CE1E6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3262294" y="1323380"/>
            <a:ext cx="2605097" cy="28575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3440888" y="1537692"/>
            <a:ext cx="226219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3440888" y="1816298"/>
            <a:ext cx="2262197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Próximos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3440888" y="2182416"/>
            <a:ext cx="2262197" cy="240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6 meses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3440888" y="2565304"/>
            <a:ext cx="2262197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Painel e Chaos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3562331" y="3063580"/>
            <a:ext cx="2140753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Dashboard Helius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3562331" y="3244295"/>
            <a:ext cx="2043140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Integração do painel de observabilidade com a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3562331" y="3392863"/>
            <a:ext cx="782352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sala de operações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3562331" y="3616440"/>
            <a:ext cx="2140753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Chaos Engineering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3562331" y="3797154"/>
            <a:ext cx="207916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Implementação de testes de caos contínuos em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3562331" y="3945722"/>
            <a:ext cx="417184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produção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3562331" y="4169299"/>
            <a:ext cx="2140753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Automação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3562331" y="4350014"/>
            <a:ext cx="205279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Expansão de scripts de remediação automática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5960259" y="3012765"/>
            <a:ext cx="171450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6095991" y="1323380"/>
            <a:ext cx="2619356" cy="3541654"/>
          </a:xfrm>
          <a:prstGeom prst="rect">
            <a:avLst/>
          </a:prstGeom>
          <a:solidFill>
            <a:srgbClr val="5CE1E6">
              <a:alpha val="4705"/>
            </a:srgbClr>
          </a:solidFill>
          <a:ln cap="flat" cmpd="sng" w="9525">
            <a:solidFill>
              <a:srgbClr val="5CE1E6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6095991" y="1323380"/>
            <a:ext cx="2605041" cy="28575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6274584" y="1537692"/>
            <a:ext cx="226216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6274584" y="1816298"/>
            <a:ext cx="226216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Próximos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6274584" y="2182416"/>
            <a:ext cx="2262169" cy="240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12 meses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6274584" y="2565304"/>
            <a:ext cx="22621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Inteligência Preditiva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6396028" y="3063580"/>
            <a:ext cx="2140725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Modelos Preditivos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6396028" y="3244295"/>
            <a:ext cx="204174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Desenvolvimento de IA para previsão de falhas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6396028" y="3392863"/>
            <a:ext cx="48683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em cascata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6396028" y="3616440"/>
            <a:ext cx="2140725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Resiliência Organizacional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6396028" y="3797154"/>
            <a:ext cx="2091500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Expansão do conceito para camadas de negócio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6396028" y="3945722"/>
            <a:ext cx="512927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e processos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6396028" y="4169299"/>
            <a:ext cx="2140725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Liderança de Mercado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6396028" y="4350014"/>
            <a:ext cx="208993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Helius como plataforma de IA mais resiliente do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6396028" y="4498581"/>
            <a:ext cx="68027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mercado global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0" y="5136496"/>
            <a:ext cx="9144000" cy="408980"/>
          </a:xfrm>
          <a:prstGeom prst="rect">
            <a:avLst/>
          </a:prstGeom>
          <a:solidFill>
            <a:srgbClr val="0F1419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0" y="5136496"/>
            <a:ext cx="9144000" cy="7144"/>
          </a:xfrm>
          <a:prstGeom prst="rect">
            <a:avLst/>
          </a:prstGeom>
          <a:solidFill>
            <a:srgbClr val="DE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428625" y="5279371"/>
            <a:ext cx="179656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Ex Ferro Lux — Da Ferrugem, a Luz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7516760" y="5279371"/>
            <a:ext cx="119861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FASE 4 — Renascimento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2" name="Google Shape;3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0"/>
          <p:cNvSpPr/>
          <p:nvPr/>
        </p:nvSpPr>
        <p:spPr>
          <a:xfrm>
            <a:off x="0" y="0"/>
            <a:ext cx="9144000" cy="77721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0" y="770074"/>
            <a:ext cx="9144000" cy="7144"/>
          </a:xfrm>
          <a:prstGeom prst="rect">
            <a:avLst/>
          </a:prstGeom>
          <a:solidFill>
            <a:srgbClr val="DE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428625" y="250031"/>
            <a:ext cx="8286750" cy="37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152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Resiliência é o Novo Uptime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428625" y="948668"/>
            <a:ext cx="4089797" cy="757238"/>
          </a:xfrm>
          <a:prstGeom prst="rect">
            <a:avLst/>
          </a:prstGeom>
          <a:solidFill>
            <a:srgbClr val="5CE1E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428625" y="948668"/>
            <a:ext cx="4089797" cy="7144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0"/>
          <p:cNvSpPr/>
          <p:nvPr/>
        </p:nvSpPr>
        <p:spPr>
          <a:xfrm>
            <a:off x="4511278" y="948668"/>
            <a:ext cx="7144" cy="757238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428625" y="1698761"/>
            <a:ext cx="4089797" cy="7144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428625" y="948668"/>
            <a:ext cx="21431" cy="757238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557213" y="1077255"/>
            <a:ext cx="383262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🔍 O que Aprendemos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557213" y="1284424"/>
            <a:ext cx="3832622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A falha não é um evento isolado, mas uma característica inerente do sistema. A arquitetura deve ser projetada para absorvê-la, contê-la e aprender com ela.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4625578" y="948668"/>
            <a:ext cx="4089797" cy="757238"/>
          </a:xfrm>
          <a:prstGeom prst="rect">
            <a:avLst/>
          </a:prstGeom>
          <a:solidFill>
            <a:srgbClr val="5CE1E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4625578" y="948668"/>
            <a:ext cx="4089797" cy="7144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8708231" y="948668"/>
            <a:ext cx="7144" cy="757238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4625578" y="1698761"/>
            <a:ext cx="4089797" cy="7144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4625578" y="948668"/>
            <a:ext cx="21431" cy="757238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0"/>
          <p:cNvSpPr/>
          <p:nvPr/>
        </p:nvSpPr>
        <p:spPr>
          <a:xfrm>
            <a:off x="4754166" y="1077255"/>
            <a:ext cx="383262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✅ O que Alcançamos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4754166" y="1284424"/>
            <a:ext cx="3832622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Uma redução de mais de 70% no impacto de falhas críticas e a introdução de mecanismos de autocontrole que permitem ao sistema se adaptar autonomamente.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428625" y="1798774"/>
            <a:ext cx="4089797" cy="757238"/>
          </a:xfrm>
          <a:prstGeom prst="rect">
            <a:avLst/>
          </a:prstGeom>
          <a:solidFill>
            <a:srgbClr val="5CE1E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428625" y="1798774"/>
            <a:ext cx="4089797" cy="7144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4511278" y="1798774"/>
            <a:ext cx="7144" cy="757238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428625" y="2548868"/>
            <a:ext cx="4089797" cy="7144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428625" y="1798774"/>
            <a:ext cx="21431" cy="757238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557213" y="1927361"/>
            <a:ext cx="383262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🚀 O que Faremos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557213" y="2134530"/>
            <a:ext cx="3832622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Continuar investindo em inteligência de controle para transformar a resiliência em uma vantagem competitiva sustentável no mercado global.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4625578" y="1798774"/>
            <a:ext cx="4089797" cy="757238"/>
          </a:xfrm>
          <a:prstGeom prst="rect">
            <a:avLst/>
          </a:prstGeom>
          <a:solidFill>
            <a:srgbClr val="5CE1E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4625578" y="1798774"/>
            <a:ext cx="4089797" cy="7144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8708231" y="1798774"/>
            <a:ext cx="7144" cy="757238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4625578" y="2548868"/>
            <a:ext cx="4089797" cy="7144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4625578" y="1798774"/>
            <a:ext cx="21431" cy="757238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4754166" y="1927361"/>
            <a:ext cx="383262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⚙️ Próximo Passo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4754166" y="2134530"/>
            <a:ext cx="3832622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Implementação completa do roadmap Helius em todas as regiões, com treinamento de equipes e integração do painel de observabilidade.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428625" y="2648880"/>
            <a:ext cx="8286750" cy="828675"/>
          </a:xfrm>
          <a:prstGeom prst="rect">
            <a:avLst/>
          </a:prstGeom>
          <a:solidFill>
            <a:srgbClr val="FFB347">
              <a:alpha val="9803"/>
            </a:srgbClr>
          </a:solidFill>
          <a:ln cap="flat" cmpd="sng" w="18275">
            <a:solidFill>
              <a:srgbClr val="FFB34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571500" y="2791755"/>
            <a:ext cx="124984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Redução de Impacto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744652" y="2963205"/>
            <a:ext cx="90354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37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−70%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1999943" y="2909627"/>
            <a:ext cx="6572557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Em falhas críticas. Nós falhos reduzidos em 59%, fila de ingestão em 68%, outputs inválidos de IA em 72%. O sistema agora reage ativamente ao desvio de comportamento.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428625" y="3556136"/>
            <a:ext cx="8286750" cy="795412"/>
          </a:xfrm>
          <a:prstGeom prst="rect">
            <a:avLst/>
          </a:prstGeom>
          <a:solidFill>
            <a:srgbClr val="5CE1E6">
              <a:alpha val="9803"/>
            </a:srgbClr>
          </a:solidFill>
          <a:ln cap="flat" cmpd="sng" w="9525">
            <a:solidFill>
              <a:srgbClr val="5CE1E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557213" y="3684724"/>
            <a:ext cx="802957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🎯 Chamada à Ação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557213" y="3911538"/>
            <a:ext cx="8029575" cy="2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Seu apoio é fundamental para o sucesso do Roadmap Helius. Juntos, transformaremos a resiliência em uma vantagem competitiva e estabeleceremos a Helius como a plataforma de IA mais resiliente do mercado global.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0" y="4814888"/>
            <a:ext cx="9144000" cy="328613"/>
          </a:xfrm>
          <a:prstGeom prst="rect">
            <a:avLst/>
          </a:prstGeom>
          <a:solidFill>
            <a:srgbClr val="0F1419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0" y="4814888"/>
            <a:ext cx="9144000" cy="7144"/>
          </a:xfrm>
          <a:prstGeom prst="rect">
            <a:avLst/>
          </a:prstGeom>
          <a:solidFill>
            <a:srgbClr val="DE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428625" y="4929188"/>
            <a:ext cx="166647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Ex Ferro Lux — Da Ferrugem, a Luz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7604131" y="4929188"/>
            <a:ext cx="1111244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FASE 4 — Renascimento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0" name="Google Shape;44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094958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1"/>
          <p:cNvSpPr/>
          <p:nvPr/>
        </p:nvSpPr>
        <p:spPr>
          <a:xfrm>
            <a:off x="0" y="0"/>
            <a:ext cx="9144000" cy="104477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0" y="1037630"/>
            <a:ext cx="9144000" cy="7144"/>
          </a:xfrm>
          <a:prstGeom prst="rect">
            <a:avLst/>
          </a:prstGeom>
          <a:solidFill>
            <a:srgbClr val="DE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428625" y="357188"/>
            <a:ext cx="828675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Agradecimentos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1785938" y="1323380"/>
            <a:ext cx="5572125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1846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Agradecemos à dedicação e ao compromisso de todas as equipes envolvidas na </a:t>
            </a:r>
            <a:r>
              <a:rPr b="1" i="0" lang="en-US" sz="78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Operation Helius</a:t>
            </a:r>
            <a:r>
              <a:rPr b="0" i="0" lang="en-US" sz="83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. Este projeto representa um esforço colaborativo entre engenharia, operações, dados e liderança.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1785938" y="1877690"/>
            <a:ext cx="5572125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1846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Juntos, transformamos um incidente crítico em uma oportunidade de </a:t>
            </a:r>
            <a:r>
              <a:rPr b="1" i="0" lang="en-US" sz="78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redesenho arquitetônico</a:t>
            </a:r>
            <a:r>
              <a:rPr b="0" i="0" lang="en-US" sz="834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 que posiciona a Helius como referência em resiliência e inteligência cibernética.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1785938" y="2574875"/>
            <a:ext cx="5572125" cy="1351955"/>
          </a:xfrm>
          <a:prstGeom prst="rect">
            <a:avLst/>
          </a:prstGeom>
          <a:solidFill>
            <a:srgbClr val="5CE1E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1"/>
          <p:cNvSpPr/>
          <p:nvPr/>
        </p:nvSpPr>
        <p:spPr>
          <a:xfrm>
            <a:off x="1785938" y="2574875"/>
            <a:ext cx="5572125" cy="7144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7350919" y="2574875"/>
            <a:ext cx="7144" cy="1351955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1"/>
          <p:cNvSpPr/>
          <p:nvPr/>
        </p:nvSpPr>
        <p:spPr>
          <a:xfrm>
            <a:off x="1785938" y="3919686"/>
            <a:ext cx="5572125" cy="7144"/>
          </a:xfrm>
          <a:prstGeom prst="rect">
            <a:avLst/>
          </a:prstGeom>
          <a:solidFill>
            <a:srgbClr val="CE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1"/>
          <p:cNvSpPr/>
          <p:nvPr/>
        </p:nvSpPr>
        <p:spPr>
          <a:xfrm>
            <a:off x="1785938" y="2574875"/>
            <a:ext cx="21431" cy="1351955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1"/>
          <p:cNvSpPr/>
          <p:nvPr/>
        </p:nvSpPr>
        <p:spPr>
          <a:xfrm>
            <a:off x="3855337" y="2789188"/>
            <a:ext cx="143332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📧 Entre em Contato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3575335" y="3087439"/>
            <a:ext cx="571500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Email: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4232560" y="3087439"/>
            <a:ext cx="1336049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operation.helius@helius.io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3796345" y="3319611"/>
            <a:ext cx="571500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Slack: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4453570" y="3319611"/>
            <a:ext cx="894029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#operation-helius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3487964" y="3551783"/>
            <a:ext cx="571500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Wiki: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4145189" y="3551783"/>
            <a:ext cx="1510819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wiki.helius.io/operation-helius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1785938" y="4198293"/>
            <a:ext cx="5572125" cy="1180505"/>
          </a:xfrm>
          <a:prstGeom prst="rect">
            <a:avLst/>
          </a:prstGeom>
          <a:solidFill>
            <a:srgbClr val="FFB347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1"/>
          <p:cNvSpPr/>
          <p:nvPr/>
        </p:nvSpPr>
        <p:spPr>
          <a:xfrm>
            <a:off x="1785938" y="4198293"/>
            <a:ext cx="5572125" cy="7144"/>
          </a:xfrm>
          <a:prstGeom prst="rect">
            <a:avLst/>
          </a:prstGeom>
          <a:solidFill>
            <a:srgbClr val="FFE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7350919" y="4198293"/>
            <a:ext cx="7144" cy="1180505"/>
          </a:xfrm>
          <a:prstGeom prst="rect">
            <a:avLst/>
          </a:prstGeom>
          <a:solidFill>
            <a:srgbClr val="FFE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1"/>
          <p:cNvSpPr/>
          <p:nvPr/>
        </p:nvSpPr>
        <p:spPr>
          <a:xfrm>
            <a:off x="1785938" y="5371654"/>
            <a:ext cx="5572125" cy="7144"/>
          </a:xfrm>
          <a:prstGeom prst="rect">
            <a:avLst/>
          </a:prstGeom>
          <a:solidFill>
            <a:srgbClr val="FFE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1"/>
          <p:cNvSpPr/>
          <p:nvPr/>
        </p:nvSpPr>
        <p:spPr>
          <a:xfrm>
            <a:off x="1785938" y="4198293"/>
            <a:ext cx="21431" cy="1180505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2000250" y="4376886"/>
            <a:ext cx="51435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🚀 Próximos Passos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2000250" y="4639419"/>
            <a:ext cx="5143500" cy="546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Convidamos você a participar da discussão sobre o roadmap de implementação, feedback técnico e oportunidades de colaboração. Sua contribuição é fundamental para o sucesso contínuo da Operation Helius.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0" y="5650260"/>
            <a:ext cx="9144000" cy="408980"/>
          </a:xfrm>
          <a:prstGeom prst="rect">
            <a:avLst/>
          </a:prstGeom>
          <a:solidFill>
            <a:srgbClr val="0F1419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1"/>
          <p:cNvSpPr/>
          <p:nvPr/>
        </p:nvSpPr>
        <p:spPr>
          <a:xfrm>
            <a:off x="0" y="5650260"/>
            <a:ext cx="9144000" cy="7144"/>
          </a:xfrm>
          <a:prstGeom prst="rect">
            <a:avLst/>
          </a:prstGeom>
          <a:solidFill>
            <a:srgbClr val="DE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1"/>
          <p:cNvSpPr/>
          <p:nvPr/>
        </p:nvSpPr>
        <p:spPr>
          <a:xfrm>
            <a:off x="428625" y="5793135"/>
            <a:ext cx="179656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Ex Ferro Lux — Da Ferrugem, a Luz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7516760" y="5793135"/>
            <a:ext cx="119861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FASE 4 — Renascimento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4" name="Google Shape;47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2"/>
          <p:cNvSpPr/>
          <p:nvPr/>
        </p:nvSpPr>
        <p:spPr>
          <a:xfrm>
            <a:off x="2656024" y="553641"/>
            <a:ext cx="3831924" cy="565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611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3731"/>
              <a:buFont typeface="Calibri"/>
              <a:buNone/>
            </a:pPr>
            <a:r>
              <a:rPr b="1" i="0" lang="en-US" sz="3731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Ex Ferro Lux</a:t>
            </a:r>
            <a:endParaRPr b="0" i="0" sz="37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2656024" y="1226576"/>
            <a:ext cx="3831924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Da Ferrugem, a Luz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2883926" y="2649968"/>
            <a:ext cx="3376120" cy="517196"/>
          </a:xfrm>
          <a:prstGeom prst="rect">
            <a:avLst/>
          </a:prstGeom>
          <a:solidFill>
            <a:srgbClr val="5CE1E6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2"/>
          <p:cNvSpPr/>
          <p:nvPr/>
        </p:nvSpPr>
        <p:spPr>
          <a:xfrm>
            <a:off x="2883926" y="2649968"/>
            <a:ext cx="21431" cy="517196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3001798" y="2649968"/>
            <a:ext cx="1343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2592"/>
              <a:buFont typeface="Calibri"/>
              <a:buNone/>
            </a:pPr>
            <a:r>
              <a:rPr b="0" i="1" lang="en-US" sz="2592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\"</a:t>
            </a:r>
            <a:endParaRPr b="0" i="0" sz="25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3180392" y="2792843"/>
            <a:ext cx="2783188" cy="231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1082"/>
              </a:lnSpc>
              <a:spcBef>
                <a:spcPts val="0"/>
              </a:spcBef>
              <a:spcAft>
                <a:spcPts val="0"/>
              </a:spcAft>
              <a:buClr>
                <a:srgbClr val="E3E6E9"/>
              </a:buClr>
              <a:buSzPts val="942"/>
              <a:buFont typeface="Calibri"/>
              <a:buNone/>
            </a:pPr>
            <a:r>
              <a:rPr b="0" i="1" lang="en-US" sz="942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1" lang="en-US" sz="885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arquitetura é a filosofia</a:t>
            </a:r>
            <a:r>
              <a:rPr b="0" i="1" lang="en-US" sz="942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 em forma de sistema.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2894642" y="3417196"/>
            <a:ext cx="3354688" cy="517196"/>
          </a:xfrm>
          <a:prstGeom prst="rect">
            <a:avLst/>
          </a:prstGeom>
          <a:solidFill>
            <a:srgbClr val="5CE1E6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2"/>
          <p:cNvSpPr/>
          <p:nvPr/>
        </p:nvSpPr>
        <p:spPr>
          <a:xfrm>
            <a:off x="2894642" y="3417196"/>
            <a:ext cx="21431" cy="517196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2"/>
          <p:cNvSpPr/>
          <p:nvPr/>
        </p:nvSpPr>
        <p:spPr>
          <a:xfrm>
            <a:off x="3001798" y="3417196"/>
            <a:ext cx="1343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2592"/>
              <a:buFont typeface="Calibri"/>
              <a:buNone/>
            </a:pPr>
            <a:r>
              <a:rPr b="0" i="1" lang="en-US" sz="2592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\"</a:t>
            </a:r>
            <a:endParaRPr b="0" i="0" sz="25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3180392" y="3560071"/>
            <a:ext cx="2783188" cy="231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1082"/>
              </a:lnSpc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885"/>
              <a:buFont typeface="Calibri"/>
              <a:buNone/>
            </a:pPr>
            <a:r>
              <a:rPr b="1" i="1" lang="en-US" sz="885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Resiliência</a:t>
            </a:r>
            <a:r>
              <a:rPr b="0" i="1" lang="en-US" sz="942" u="none" cap="none" strike="noStrike">
                <a:solidFill>
                  <a:srgbClr val="E3E6E9"/>
                </a:solidFill>
                <a:latin typeface="Calibri"/>
                <a:ea typeface="Calibri"/>
                <a:cs typeface="Calibri"/>
                <a:sym typeface="Calibri"/>
              </a:rPr>
              <a:t> é o novo uptime.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1865942" y="4434455"/>
            <a:ext cx="541211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5CE1E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5CE1E6"/>
                </a:solidFill>
                <a:latin typeface="Calibri"/>
                <a:ea typeface="Calibri"/>
                <a:cs typeface="Calibri"/>
                <a:sym typeface="Calibri"/>
              </a:rPr>
              <a:t>Operation Helius: Transformação através da Inteligência Cibernética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2025-11-11T15:25:07Z</dcterms:created>
  <dc:creator>PptxGenJS</dc:creator>
</cp:coreProperties>
</file>